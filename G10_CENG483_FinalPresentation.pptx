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4"/>
    <p:sldMasterId id="2147483671" r:id="rId5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9CC3FF-1330-4ED7-AC27-8AE4E3F8CB23}" v="10" dt="2026-06-25T12:20:01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QİF ALİYEV" userId="S::vaqifaliyev@ogr365.iyte.edu.tr::efe1121c-6b5e-49a9-8bf3-aae3baef50af" providerId="AD" clId="Web-{D49CC3FF-1330-4ED7-AC27-8AE4E3F8CB23}"/>
    <pc:docChg chg="addSld delSld modSld">
      <pc:chgData name="VAQİF ALİYEV" userId="S::vaqifaliyev@ogr365.iyte.edu.tr::efe1121c-6b5e-49a9-8bf3-aae3baef50af" providerId="AD" clId="Web-{D49CC3FF-1330-4ED7-AC27-8AE4E3F8CB23}" dt="2026-06-25T12:20:01.693" v="9" actId="20577"/>
      <pc:docMkLst>
        <pc:docMk/>
      </pc:docMkLst>
      <pc:sldChg chg="delSp">
        <pc:chgData name="VAQİF ALİYEV" userId="S::vaqifaliyev@ogr365.iyte.edu.tr::efe1121c-6b5e-49a9-8bf3-aae3baef50af" providerId="AD" clId="Web-{D49CC3FF-1330-4ED7-AC27-8AE4E3F8CB23}" dt="2026-06-25T12:19:47.552" v="3"/>
        <pc:sldMkLst>
          <pc:docMk/>
          <pc:sldMk cId="0" sldId="258"/>
        </pc:sldMkLst>
        <pc:picChg chg="del">
          <ac:chgData name="VAQİF ALİYEV" userId="S::vaqifaliyev@ogr365.iyte.edu.tr::efe1121c-6b5e-49a9-8bf3-aae3baef50af" providerId="AD" clId="Web-{D49CC3FF-1330-4ED7-AC27-8AE4E3F8CB23}" dt="2026-06-25T12:19:47.114" v="2"/>
          <ac:picMkLst>
            <pc:docMk/>
            <pc:sldMk cId="0" sldId="258"/>
            <ac:picMk id="155" creationId="{00000000-0000-0000-0000-000000000000}"/>
          </ac:picMkLst>
        </pc:picChg>
        <pc:picChg chg="del">
          <ac:chgData name="VAQİF ALİYEV" userId="S::vaqifaliyev@ogr365.iyte.edu.tr::efe1121c-6b5e-49a9-8bf3-aae3baef50af" providerId="AD" clId="Web-{D49CC3FF-1330-4ED7-AC27-8AE4E3F8CB23}" dt="2026-06-25T12:19:42.411" v="0"/>
          <ac:picMkLst>
            <pc:docMk/>
            <pc:sldMk cId="0" sldId="258"/>
            <ac:picMk id="156" creationId="{00000000-0000-0000-0000-000000000000}"/>
          </ac:picMkLst>
        </pc:picChg>
        <pc:picChg chg="del">
          <ac:chgData name="VAQİF ALİYEV" userId="S::vaqifaliyev@ogr365.iyte.edu.tr::efe1121c-6b5e-49a9-8bf3-aae3baef50af" providerId="AD" clId="Web-{D49CC3FF-1330-4ED7-AC27-8AE4E3F8CB23}" dt="2026-06-25T12:19:44.348" v="1"/>
          <ac:picMkLst>
            <pc:docMk/>
            <pc:sldMk cId="0" sldId="258"/>
            <ac:picMk id="157" creationId="{00000000-0000-0000-0000-000000000000}"/>
          </ac:picMkLst>
        </pc:picChg>
        <pc:picChg chg="del">
          <ac:chgData name="VAQİF ALİYEV" userId="S::vaqifaliyev@ogr365.iyte.edu.tr::efe1121c-6b5e-49a9-8bf3-aae3baef50af" providerId="AD" clId="Web-{D49CC3FF-1330-4ED7-AC27-8AE4E3F8CB23}" dt="2026-06-25T12:19:47.552" v="3"/>
          <ac:picMkLst>
            <pc:docMk/>
            <pc:sldMk cId="0" sldId="258"/>
            <ac:picMk id="158" creationId="{00000000-0000-0000-0000-000000000000}"/>
          </ac:picMkLst>
        </pc:picChg>
      </pc:sldChg>
      <pc:sldChg chg="delSp del delAnim">
        <pc:chgData name="VAQİF ALİYEV" userId="S::vaqifaliyev@ogr365.iyte.edu.tr::efe1121c-6b5e-49a9-8bf3-aae3baef50af" providerId="AD" clId="Web-{D49CC3FF-1330-4ED7-AC27-8AE4E3F8CB23}" dt="2026-06-25T12:19:55.771" v="5"/>
        <pc:sldMkLst>
          <pc:docMk/>
          <pc:sldMk cId="0" sldId="270"/>
        </pc:sldMkLst>
        <pc:picChg chg="del">
          <ac:chgData name="VAQİF ALİYEV" userId="S::vaqifaliyev@ogr365.iyte.edu.tr::efe1121c-6b5e-49a9-8bf3-aae3baef50af" providerId="AD" clId="Web-{D49CC3FF-1330-4ED7-AC27-8AE4E3F8CB23}" dt="2026-06-25T12:19:53.208" v="4"/>
          <ac:picMkLst>
            <pc:docMk/>
            <pc:sldMk cId="0" sldId="270"/>
            <ac:picMk id="285" creationId="{00000000-0000-0000-0000-000000000000}"/>
          </ac:picMkLst>
        </pc:picChg>
      </pc:sldChg>
      <pc:sldChg chg="modSp new">
        <pc:chgData name="VAQİF ALİYEV" userId="S::vaqifaliyev@ogr365.iyte.edu.tr::efe1121c-6b5e-49a9-8bf3-aae3baef50af" providerId="AD" clId="Web-{D49CC3FF-1330-4ED7-AC27-8AE4E3F8CB23}" dt="2026-06-25T12:20:01.693" v="9" actId="20577"/>
        <pc:sldMkLst>
          <pc:docMk/>
          <pc:sldMk cId="235977672" sldId="270"/>
        </pc:sldMkLst>
        <pc:spChg chg="mod">
          <ac:chgData name="VAQİF ALİYEV" userId="S::vaqifaliyev@ogr365.iyte.edu.tr::efe1121c-6b5e-49a9-8bf3-aae3baef50af" providerId="AD" clId="Web-{D49CC3FF-1330-4ED7-AC27-8AE4E3F8CB23}" dt="2026-06-25T12:20:01.693" v="9" actId="20577"/>
          <ac:spMkLst>
            <pc:docMk/>
            <pc:sldMk cId="235977672" sldId="270"/>
            <ac:spMk id="2" creationId="{D62C8B8A-7732-6226-D7EA-0BE3008E5E4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673278845_2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b673278845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673278845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b673278845_2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b673278845_2_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673278845_2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b673278845_2_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2 slides</a:t>
            </a:r>
            <a:endParaRPr/>
          </a:p>
        </p:txBody>
      </p:sp>
      <p:sp>
        <p:nvSpPr>
          <p:cNvPr id="148" name="Google Shape;148;g3b673278845_2_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673278845_2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b673278845_2_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 slide</a:t>
            </a:r>
            <a:endParaRPr/>
          </a:p>
        </p:txBody>
      </p:sp>
      <p:sp>
        <p:nvSpPr>
          <p:cNvPr id="162" name="Google Shape;162;g3b673278845_2_1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673278845_2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b673278845_2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 slide</a:t>
            </a:r>
            <a:endParaRPr/>
          </a:p>
        </p:txBody>
      </p:sp>
      <p:sp>
        <p:nvSpPr>
          <p:cNvPr id="174" name="Google Shape;174;g3b673278845_2_1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673278845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b673278845_2_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 slide</a:t>
            </a:r>
            <a:endParaRPr/>
          </a:p>
        </p:txBody>
      </p:sp>
      <p:sp>
        <p:nvSpPr>
          <p:cNvPr id="184" name="Google Shape;184;g3b673278845_2_1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673278845_2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b673278845_2_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 slide</a:t>
            </a:r>
            <a:endParaRPr/>
          </a:p>
        </p:txBody>
      </p:sp>
      <p:sp>
        <p:nvSpPr>
          <p:cNvPr id="194" name="Google Shape;194;g3b673278845_2_1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673278845_2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b673278845_2_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 slide</a:t>
            </a:r>
            <a:endParaRPr/>
          </a:p>
        </p:txBody>
      </p:sp>
      <p:sp>
        <p:nvSpPr>
          <p:cNvPr id="204" name="Google Shape;204;g3b673278845_2_1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673278845_2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3b673278845_2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 slide</a:t>
            </a:r>
            <a:endParaRPr/>
          </a:p>
        </p:txBody>
      </p:sp>
      <p:sp>
        <p:nvSpPr>
          <p:cNvPr id="219" name="Google Shape;219;g3b673278845_2_1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673278845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3b673278845_2_1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 to 2 slides</a:t>
            </a:r>
            <a:endParaRPr/>
          </a:p>
        </p:txBody>
      </p:sp>
      <p:sp>
        <p:nvSpPr>
          <p:cNvPr id="229" name="Google Shape;229;g3b673278845_2_1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673278845_2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b673278845_2_1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 slide</a:t>
            </a:r>
            <a:endParaRPr/>
          </a:p>
        </p:txBody>
      </p:sp>
      <p:sp>
        <p:nvSpPr>
          <p:cNvPr id="239" name="Google Shape;239;g3b673278845_2_1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673278845_2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3b673278845_2_1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 slide</a:t>
            </a:r>
            <a:endParaRPr/>
          </a:p>
        </p:txBody>
      </p:sp>
      <p:sp>
        <p:nvSpPr>
          <p:cNvPr id="249" name="Google Shape;249;g3b673278845_2_1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673278845_2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3b673278845_2_1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 slide</a:t>
            </a:r>
            <a:endParaRPr/>
          </a:p>
        </p:txBody>
      </p:sp>
      <p:sp>
        <p:nvSpPr>
          <p:cNvPr id="259" name="Google Shape;259;g3b673278845_2_1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673278845_2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3b673278845_2_1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 to 2 slides</a:t>
            </a:r>
            <a:endParaRPr/>
          </a:p>
        </p:txBody>
      </p:sp>
      <p:sp>
        <p:nvSpPr>
          <p:cNvPr id="269" name="Google Shape;269;g3b673278845_2_1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tr"/>
              <a:t>CENG 483 </a:t>
            </a:r>
            <a:br>
              <a:rPr lang="tr"/>
            </a:br>
            <a:r>
              <a:rPr lang="tr"/>
              <a:t>Behavioral Robotics</a:t>
            </a:r>
            <a:br>
              <a:rPr lang="tr"/>
            </a:br>
            <a:r>
              <a:rPr lang="tr"/>
              <a:t>Final Presentation</a:t>
            </a:r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tr"/>
              <a:t>Project Title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tr"/>
              <a:t>Group 10</a:t>
            </a:r>
            <a:endParaRPr/>
          </a:p>
        </p:txBody>
      </p:sp>
      <p:sp>
        <p:nvSpPr>
          <p:cNvPr id="131" name="Google Shape;131;p25"/>
          <p:cNvSpPr txBox="1"/>
          <p:nvPr/>
        </p:nvSpPr>
        <p:spPr>
          <a:xfrm>
            <a:off x="1143000" y="3943350"/>
            <a:ext cx="6858000" cy="72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t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Fall 2025</a:t>
            </a:r>
            <a:endParaRPr sz="1100"/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t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Izmir Institute of Technology</a:t>
            </a:r>
            <a:endParaRPr sz="1100"/>
          </a:p>
        </p:txBody>
      </p:sp>
      <p:sp>
        <p:nvSpPr>
          <p:cNvPr id="132" name="Google Shape;132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11-Dec-25</a:t>
            </a:r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 Erol CENG483 @ IZTECH</a:t>
            </a:r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"/>
              <a:t>Outline</a:t>
            </a:r>
            <a:endParaRPr/>
          </a:p>
        </p:txBody>
      </p:sp>
      <p:sp>
        <p:nvSpPr>
          <p:cNvPr id="141" name="Google Shape;141;p2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tr"/>
              <a:t>Meet the team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tr"/>
              <a:t>Overview of the Project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tr"/>
              <a:t>Specifications(H/s, S/w, tools, apps, etc.) 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tr"/>
              <a:t>Evaluation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tr"/>
              <a:t>Business Opportunities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tr"/>
              <a:t>Conclusion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tr"/>
              <a:t>Demonstration</a:t>
            </a: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11-Dec-25</a:t>
            </a:r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 Erol CENG318 @ IZTECH</a:t>
            </a:r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"/>
              <a:t>Team</a:t>
            </a:r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tr"/>
              <a:t>Canberk Yılmaz 300201027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tr"/>
              <a:t>Robotic Vision, System Architecture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tr"/>
              <a:t>Vagif Aliyev 300201131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tr"/>
              <a:t>Research, Integration 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tr"/>
              <a:t> Kaan Cesur 290201066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tr"/>
              <a:t>Research, Inverse Kinematics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tr"/>
              <a:t> Emir Efe Ulusoy 300201103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tr"/>
              <a:t>Mechanical Design, Motion Control</a:t>
            </a:r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11-Dec-25</a:t>
            </a:r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 Erol CENG318 @ IZTECH</a:t>
            </a:r>
            <a:endParaRPr/>
          </a:p>
        </p:txBody>
      </p:sp>
      <p:sp>
        <p:nvSpPr>
          <p:cNvPr id="154" name="Google Shape;154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"/>
              <a:t>Overview of the Project</a:t>
            </a:r>
            <a:br>
              <a:rPr lang="tr"/>
            </a:br>
            <a:r>
              <a:rPr lang="tr" sz="2400"/>
              <a:t>Introduction</a:t>
            </a:r>
            <a:endParaRPr/>
          </a:p>
        </p:txBody>
      </p:sp>
      <p:sp>
        <p:nvSpPr>
          <p:cNvPr id="165" name="Google Shape;165;p28"/>
          <p:cNvSpPr txBox="1">
            <a:spLocks noGrp="1"/>
          </p:cNvSpPr>
          <p:nvPr>
            <p:ph type="body" idx="1"/>
          </p:nvPr>
        </p:nvSpPr>
        <p:spPr>
          <a:xfrm>
            <a:off x="628650" y="1385950"/>
            <a:ext cx="60459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latin typeface="Arial"/>
                <a:ea typeface="Arial"/>
                <a:cs typeface="Arial"/>
                <a:sym typeface="Arial"/>
              </a:rPr>
              <a:t>To play a game of chess, the robot must master three distinct domains: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Computer Vision (The Eyes):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A camera system detects the board state and identifies piece locations using image processing algorithms.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The Engine (The Brain):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The system processes the board state and uses a chess engine to calculate the winning move.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Kinematics (The Muscles):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The robotic arm calculates the precise coordinates (x,y,z) and joint angles required to pick and place the piece without disturbing others.</a:t>
            </a:r>
            <a:endParaRPr sz="1100"/>
          </a:p>
        </p:txBody>
      </p:sp>
      <p:sp>
        <p:nvSpPr>
          <p:cNvPr id="166" name="Google Shape;166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11-Dec-25</a:t>
            </a:r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 Erol CENG318 @ IZTECH</a:t>
            </a:r>
            <a:endParaRPr/>
          </a:p>
        </p:txBody>
      </p:sp>
      <p:sp>
        <p:nvSpPr>
          <p:cNvPr id="168" name="Google Shape;168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4</a:t>
            </a:fld>
            <a:endParaRPr/>
          </a:p>
        </p:txBody>
      </p:sp>
      <p:pic>
        <p:nvPicPr>
          <p:cNvPr id="169" name="Google Shape;16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8850" y="0"/>
            <a:ext cx="2185149" cy="251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8850" y="3089425"/>
            <a:ext cx="2185151" cy="2054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"/>
              <a:t>Overview of the Project</a:t>
            </a:r>
            <a:br>
              <a:rPr lang="tr"/>
            </a:br>
            <a:r>
              <a:rPr lang="tr" sz="2400"/>
              <a:t>Problem Definition</a:t>
            </a:r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The Problem: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Most powerful Chess Engines (like Stockfish) exist only on screens. They lack the humane element of moving physical pieces.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The Solution: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An autonomous robotic system capable of imagining a physical chessboard, calculating optimal moves, and executing them with human like dexterity.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The Goal: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To create a seamless loop between </a:t>
            </a:r>
            <a:r>
              <a:rPr lang="tr" sz="1100" b="1">
                <a:latin typeface="Arial"/>
                <a:ea typeface="Arial"/>
                <a:cs typeface="Arial"/>
                <a:sym typeface="Arial"/>
              </a:rPr>
              <a:t>seeing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tr" sz="1100" b="1">
                <a:latin typeface="Arial"/>
                <a:ea typeface="Arial"/>
                <a:cs typeface="Arial"/>
                <a:sym typeface="Arial"/>
              </a:rPr>
              <a:t>thinking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tr" sz="1100" b="1">
                <a:latin typeface="Arial"/>
                <a:ea typeface="Arial"/>
                <a:cs typeface="Arial"/>
                <a:sym typeface="Arial"/>
              </a:rPr>
              <a:t>acting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11-Dec-25</a:t>
            </a:r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 Erol CENG318 @ IZTECH</a:t>
            </a:r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"/>
              <a:t>Overview of the Project</a:t>
            </a:r>
            <a:br>
              <a:rPr lang="tr"/>
            </a:br>
            <a:r>
              <a:rPr lang="tr" sz="2400"/>
              <a:t>Challenges</a:t>
            </a:r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endParaRPr sz="4525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00448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tr" sz="4525" b="1">
                <a:latin typeface="Arial"/>
                <a:ea typeface="Arial"/>
                <a:cs typeface="Arial"/>
                <a:sym typeface="Arial"/>
              </a:rPr>
              <a:t>Precision:</a:t>
            </a:r>
            <a:r>
              <a:rPr lang="tr" sz="4525">
                <a:latin typeface="Arial"/>
                <a:ea typeface="Arial"/>
                <a:cs typeface="Arial"/>
                <a:sym typeface="Arial"/>
              </a:rPr>
              <a:t> Moving within millimeter accuracy to ensure pieces are centered on squares and not dropping other chess pieces.</a:t>
            </a:r>
            <a:endParaRPr sz="4525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4525">
              <a:latin typeface="Arial"/>
              <a:ea typeface="Arial"/>
              <a:cs typeface="Arial"/>
              <a:sym typeface="Arial"/>
            </a:endParaRPr>
          </a:p>
          <a:p>
            <a:pPr marL="457200" lvl="0" indent="-300448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tr" sz="4525" b="1">
                <a:latin typeface="Arial"/>
                <a:ea typeface="Arial"/>
                <a:cs typeface="Arial"/>
                <a:sym typeface="Arial"/>
              </a:rPr>
              <a:t>Environmental Factors:</a:t>
            </a:r>
            <a:r>
              <a:rPr lang="tr" sz="4525">
                <a:latin typeface="Arial"/>
                <a:ea typeface="Arial"/>
                <a:cs typeface="Arial"/>
                <a:sym typeface="Arial"/>
              </a:rPr>
              <a:t> Shadows cast by the robotic arm(self-occlusion problem) and environmental light interfering with piece detection.</a:t>
            </a:r>
            <a:endParaRPr sz="4525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4525">
              <a:latin typeface="Arial"/>
              <a:ea typeface="Arial"/>
              <a:cs typeface="Arial"/>
              <a:sym typeface="Arial"/>
            </a:endParaRPr>
          </a:p>
          <a:p>
            <a:pPr marL="457200" lvl="0" indent="-300448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tr" sz="4525" b="1">
                <a:latin typeface="Arial"/>
                <a:ea typeface="Arial"/>
                <a:cs typeface="Arial"/>
                <a:sym typeface="Arial"/>
              </a:rPr>
              <a:t>Power Distribution:</a:t>
            </a:r>
            <a:r>
              <a:rPr lang="tr" sz="4525">
                <a:latin typeface="Arial"/>
                <a:ea typeface="Arial"/>
                <a:cs typeface="Arial"/>
                <a:sym typeface="Arial"/>
              </a:rPr>
              <a:t> Managing high current draws during simultaneous servo actuation.</a:t>
            </a:r>
            <a:endParaRPr sz="4525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4525">
              <a:latin typeface="Arial"/>
              <a:ea typeface="Arial"/>
              <a:cs typeface="Arial"/>
              <a:sym typeface="Arial"/>
            </a:endParaRPr>
          </a:p>
          <a:p>
            <a:pPr marL="457200" lvl="0" indent="-300448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tr" sz="4525" b="1">
                <a:latin typeface="Arial"/>
                <a:ea typeface="Arial"/>
                <a:cs typeface="Arial"/>
                <a:sym typeface="Arial"/>
              </a:rPr>
              <a:t>Mechanical Oscillation:</a:t>
            </a:r>
            <a:r>
              <a:rPr lang="tr" sz="4525">
                <a:latin typeface="Arial"/>
                <a:ea typeface="Arial"/>
                <a:cs typeface="Arial"/>
                <a:sym typeface="Arial"/>
              </a:rPr>
              <a:t> Upright arm design caused "jerks" during movement.</a:t>
            </a:r>
            <a:endParaRPr sz="4525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1397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188" name="Google Shape;188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11-Dec-25</a:t>
            </a:r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 Erol CENG318 @ IZTECH</a:t>
            </a:r>
            <a:endParaRPr/>
          </a:p>
        </p:txBody>
      </p:sp>
      <p:sp>
        <p:nvSpPr>
          <p:cNvPr id="190" name="Google Shape;190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"/>
              <a:t>Overview of the Project</a:t>
            </a:r>
            <a:br>
              <a:rPr lang="tr"/>
            </a:br>
            <a:r>
              <a:rPr lang="tr" sz="2400"/>
              <a:t>Solutions</a:t>
            </a:r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20000"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Kinematics: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Custom Python based IK solver utilizing the Law of Cosines.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HSV Thresholding: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The system transitioned to HSV color thresholding to distinguish between physical chess pieces and dynamic shadows cast by the robotic arm.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Serial Handshake: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A PING/PONG handshake protocol ensures connection stability before high current movements are attempted.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Linear Interpolation: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Developed a smoothMove firmware function that divides travel into discrete steps rather than jumping instantly between angles.</a:t>
            </a:r>
            <a:br>
              <a:rPr lang="tr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177800" lvl="0" indent="-381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198" name="Google Shape;198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11-Dec-25</a:t>
            </a:r>
            <a:endParaRPr/>
          </a:p>
        </p:txBody>
      </p:sp>
      <p:sp>
        <p:nvSpPr>
          <p:cNvPr id="199" name="Google Shape;199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 Erol CENG318 @ IZTECH</a:t>
            </a:r>
            <a:endParaRPr/>
          </a:p>
        </p:txBody>
      </p:sp>
      <p:sp>
        <p:nvSpPr>
          <p:cNvPr id="200" name="Google Shape;200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br>
              <a:rPr lang="tr"/>
            </a:br>
            <a:r>
              <a:rPr lang="tr" sz="2400"/>
              <a:t>Specifications</a:t>
            </a:r>
            <a:endParaRPr/>
          </a:p>
        </p:txBody>
      </p:sp>
      <p:sp>
        <p:nvSpPr>
          <p:cNvPr id="207" name="Google Shape;207;p32"/>
          <p:cNvSpPr txBox="1">
            <a:spLocks noGrp="1"/>
          </p:cNvSpPr>
          <p:nvPr>
            <p:ph type="body" idx="1"/>
          </p:nvPr>
        </p:nvSpPr>
        <p:spPr>
          <a:xfrm>
            <a:off x="55300" y="1268025"/>
            <a:ext cx="8797800" cy="37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25000" lnSpcReduction="20000"/>
          </a:bodyPr>
          <a:lstStyle/>
          <a:p>
            <a:pPr marL="177800" lvl="0" indent="-381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tr" sz="4400" b="1">
                <a:latin typeface="Arial"/>
                <a:ea typeface="Arial"/>
                <a:cs typeface="Arial"/>
                <a:sym typeface="Arial"/>
              </a:rPr>
              <a:t>Tools</a:t>
            </a:r>
            <a:endParaRPr sz="4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tr" sz="4400" b="1">
                <a:latin typeface="Arial"/>
                <a:ea typeface="Arial"/>
                <a:cs typeface="Arial"/>
                <a:sym typeface="Arial"/>
              </a:rPr>
              <a:t>IDE:</a:t>
            </a:r>
            <a:r>
              <a:rPr lang="tr" sz="4400">
                <a:latin typeface="Arial"/>
                <a:ea typeface="Arial"/>
                <a:cs typeface="Arial"/>
                <a:sym typeface="Arial"/>
              </a:rPr>
              <a:t> Visual Studio Code / Arduino IDE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tr" sz="4400" b="1">
                <a:latin typeface="Arial"/>
                <a:ea typeface="Arial"/>
                <a:cs typeface="Arial"/>
                <a:sym typeface="Arial"/>
              </a:rPr>
              <a:t>Libraries:</a:t>
            </a:r>
            <a:r>
              <a:rPr lang="tr" sz="4400">
                <a:latin typeface="Arial"/>
                <a:ea typeface="Arial"/>
                <a:cs typeface="Arial"/>
                <a:sym typeface="Arial"/>
              </a:rPr>
              <a:t> NumPy (for math), PySerial (for communication), 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4400">
                <a:latin typeface="Arial"/>
                <a:ea typeface="Arial"/>
                <a:cs typeface="Arial"/>
                <a:sym typeface="Arial"/>
              </a:rPr>
              <a:t>OpenCV(for robotic vision)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tr" sz="4400" b="1">
                <a:latin typeface="Arial"/>
                <a:ea typeface="Arial"/>
                <a:cs typeface="Arial"/>
                <a:sym typeface="Arial"/>
              </a:rPr>
              <a:t>Power Supply</a:t>
            </a:r>
            <a:r>
              <a:rPr lang="tr" sz="4400">
                <a:latin typeface="Arial"/>
                <a:ea typeface="Arial"/>
                <a:cs typeface="Arial"/>
                <a:sym typeface="Arial"/>
              </a:rPr>
              <a:t>: Digital Laboratory Power supply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4400" b="1">
                <a:latin typeface="Arial"/>
                <a:ea typeface="Arial"/>
                <a:cs typeface="Arial"/>
                <a:sym typeface="Arial"/>
              </a:rPr>
              <a:t>Hardware</a:t>
            </a:r>
            <a:endParaRPr sz="4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tr" sz="4400" b="1">
                <a:latin typeface="Arial"/>
                <a:ea typeface="Arial"/>
                <a:cs typeface="Arial"/>
                <a:sym typeface="Arial"/>
              </a:rPr>
              <a:t>Microcontroller:</a:t>
            </a:r>
            <a:r>
              <a:rPr lang="tr" sz="4400">
                <a:latin typeface="Arial"/>
                <a:ea typeface="Arial"/>
                <a:cs typeface="Arial"/>
                <a:sym typeface="Arial"/>
              </a:rPr>
              <a:t> Arduino Mega 2560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tr" sz="4400" b="1">
                <a:latin typeface="Arial"/>
                <a:ea typeface="Arial"/>
                <a:cs typeface="Arial"/>
                <a:sym typeface="Arial"/>
              </a:rPr>
              <a:t>Manipulator:</a:t>
            </a:r>
            <a:r>
              <a:rPr lang="tr" sz="4400">
                <a:latin typeface="Arial"/>
                <a:ea typeface="Arial"/>
                <a:cs typeface="Arial"/>
                <a:sym typeface="Arial"/>
              </a:rPr>
              <a:t> 5-DOF Robotic Arm (Five Degrees of Freedom)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tr" sz="4400" b="1">
                <a:latin typeface="Arial"/>
                <a:ea typeface="Arial"/>
                <a:cs typeface="Arial"/>
                <a:sym typeface="Arial"/>
              </a:rPr>
              <a:t>Vision Sensor:</a:t>
            </a:r>
            <a:r>
              <a:rPr lang="tr" sz="4400">
                <a:latin typeface="Arial"/>
                <a:ea typeface="Arial"/>
                <a:cs typeface="Arial"/>
                <a:sym typeface="Arial"/>
              </a:rPr>
              <a:t> Mobile Phone cam 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tr" sz="4400" b="1">
                <a:latin typeface="Arial"/>
                <a:ea typeface="Arial"/>
                <a:cs typeface="Arial"/>
                <a:sym typeface="Arial"/>
              </a:rPr>
              <a:t>Actuators:</a:t>
            </a:r>
            <a:r>
              <a:rPr lang="tr" sz="4400">
                <a:latin typeface="Arial"/>
                <a:ea typeface="Arial"/>
                <a:cs typeface="Arial"/>
                <a:sym typeface="Arial"/>
              </a:rPr>
              <a:t> Servo Motors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4400" b="1">
                <a:latin typeface="Arial"/>
                <a:ea typeface="Arial"/>
                <a:cs typeface="Arial"/>
                <a:sym typeface="Arial"/>
              </a:rPr>
              <a:t>Software</a:t>
            </a:r>
            <a:endParaRPr sz="4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tr" sz="4400" b="1">
                <a:latin typeface="Arial"/>
                <a:ea typeface="Arial"/>
                <a:cs typeface="Arial"/>
                <a:sym typeface="Arial"/>
              </a:rPr>
              <a:t>Programming Language:</a:t>
            </a:r>
            <a:r>
              <a:rPr lang="tr" sz="4400">
                <a:latin typeface="Arial"/>
                <a:ea typeface="Arial"/>
                <a:cs typeface="Arial"/>
                <a:sym typeface="Arial"/>
              </a:rPr>
              <a:t> Python 3.8+, C++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tr" sz="4400" b="1">
                <a:latin typeface="Arial"/>
                <a:ea typeface="Arial"/>
                <a:cs typeface="Arial"/>
                <a:sym typeface="Arial"/>
              </a:rPr>
              <a:t>Computer Vision:</a:t>
            </a:r>
            <a:r>
              <a:rPr lang="tr" sz="4400">
                <a:latin typeface="Arial"/>
                <a:ea typeface="Arial"/>
                <a:cs typeface="Arial"/>
                <a:sym typeface="Arial"/>
              </a:rPr>
              <a:t> OpenCV (Open Source Computer Vision Library)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tr" sz="4400" b="1">
                <a:latin typeface="Arial"/>
                <a:ea typeface="Arial"/>
                <a:cs typeface="Arial"/>
                <a:sym typeface="Arial"/>
              </a:rPr>
              <a:t>Motion Control:</a:t>
            </a:r>
            <a:r>
              <a:rPr lang="tr" sz="4400">
                <a:latin typeface="Arial"/>
                <a:ea typeface="Arial"/>
                <a:cs typeface="Arial"/>
                <a:sym typeface="Arial"/>
              </a:rPr>
              <a:t> Inverse Kinematics Algorithms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tr" sz="4400" b="1">
                <a:latin typeface="Arial"/>
                <a:ea typeface="Arial"/>
                <a:cs typeface="Arial"/>
                <a:sym typeface="Arial"/>
              </a:rPr>
              <a:t>Game Logic:</a:t>
            </a:r>
            <a:r>
              <a:rPr lang="tr" sz="4400">
                <a:latin typeface="Arial"/>
                <a:ea typeface="Arial"/>
                <a:cs typeface="Arial"/>
                <a:sym typeface="Arial"/>
              </a:rPr>
              <a:t> Chess Engine Integration (e.g., Stockfish)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marL="177800" lvl="0" indent="-60325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66666"/>
              <a:buChar char="•"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208" name="Google Shape;208;p32"/>
          <p:cNvSpPr/>
          <p:nvPr/>
        </p:nvSpPr>
        <p:spPr>
          <a:xfrm>
            <a:off x="6591841" y="3643563"/>
            <a:ext cx="1018200" cy="994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Picture of H/w and tools</a:t>
            </a:r>
            <a:endParaRPr sz="1100"/>
          </a:p>
        </p:txBody>
      </p:sp>
      <p:sp>
        <p:nvSpPr>
          <p:cNvPr id="209" name="Google Shape;209;p32"/>
          <p:cNvSpPr/>
          <p:nvPr/>
        </p:nvSpPr>
        <p:spPr>
          <a:xfrm>
            <a:off x="6591841" y="3643574"/>
            <a:ext cx="1018200" cy="994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Logos of s/w and apps</a:t>
            </a:r>
            <a:endParaRPr sz="1100"/>
          </a:p>
        </p:txBody>
      </p:sp>
      <p:sp>
        <p:nvSpPr>
          <p:cNvPr id="210" name="Google Shape;210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11-Dec-25</a:t>
            </a:r>
            <a:endParaRPr/>
          </a:p>
        </p:txBody>
      </p:sp>
      <p:sp>
        <p:nvSpPr>
          <p:cNvPr id="211" name="Google Shape;211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 Erol CENG318 @ IZTECH</a:t>
            </a:r>
            <a:endParaRPr/>
          </a:p>
        </p:txBody>
      </p:sp>
      <p:sp>
        <p:nvSpPr>
          <p:cNvPr id="212" name="Google Shape;212;p32"/>
          <p:cNvSpPr txBox="1">
            <a:spLocks noGrp="1"/>
          </p:cNvSpPr>
          <p:nvPr>
            <p:ph type="sldNum" idx="12"/>
          </p:nvPr>
        </p:nvSpPr>
        <p:spPr>
          <a:xfrm>
            <a:off x="5833575" y="429381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8</a:t>
            </a:fld>
            <a:endParaRPr/>
          </a:p>
        </p:txBody>
      </p:sp>
      <p:pic>
        <p:nvPicPr>
          <p:cNvPr id="213" name="Google Shape;21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200" y="3334763"/>
            <a:ext cx="310515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9700" y="1078976"/>
            <a:ext cx="1691826" cy="22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2"/>
          <p:cNvPicPr preferRelativeResize="0"/>
          <p:nvPr/>
        </p:nvPicPr>
        <p:blipFill rotWithShape="1">
          <a:blip r:embed="rId5">
            <a:alphaModFix/>
          </a:blip>
          <a:srcRect l="12851" t="12062" r="8209" b="16727"/>
          <a:stretch/>
        </p:blipFill>
        <p:spPr>
          <a:xfrm>
            <a:off x="7161275" y="1808725"/>
            <a:ext cx="1691825" cy="152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>
            <a:spLocks noGrp="1"/>
          </p:cNvSpPr>
          <p:nvPr>
            <p:ph type="title"/>
          </p:nvPr>
        </p:nvSpPr>
        <p:spPr>
          <a:xfrm>
            <a:off x="283650" y="311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"/>
              <a:t>Evaluation</a:t>
            </a:r>
            <a:br>
              <a:rPr lang="tr"/>
            </a:br>
            <a:r>
              <a:rPr lang="tr" sz="2400"/>
              <a:t>Gantt Chart</a:t>
            </a:r>
            <a:endParaRPr/>
          </a:p>
        </p:txBody>
      </p:sp>
      <p:sp>
        <p:nvSpPr>
          <p:cNvPr id="222" name="Google Shape;222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11-Dec-25</a:t>
            </a:r>
            <a:endParaRPr/>
          </a:p>
        </p:txBody>
      </p:sp>
      <p:sp>
        <p:nvSpPr>
          <p:cNvPr id="223" name="Google Shape;223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 Erol CENG318 @ IZTECH</a:t>
            </a:r>
            <a:endParaRPr/>
          </a:p>
        </p:txBody>
      </p:sp>
      <p:sp>
        <p:nvSpPr>
          <p:cNvPr id="224" name="Google Shape;224;p33"/>
          <p:cNvSpPr txBox="1">
            <a:spLocks noGrp="1"/>
          </p:cNvSpPr>
          <p:nvPr>
            <p:ph type="sldNum" idx="12"/>
          </p:nvPr>
        </p:nvSpPr>
        <p:spPr>
          <a:xfrm>
            <a:off x="6165100" y="44293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9</a:t>
            </a:fld>
            <a:endParaRPr/>
          </a:p>
        </p:txBody>
      </p:sp>
      <p:pic>
        <p:nvPicPr>
          <p:cNvPr id="225" name="Google Shape;22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500" y="923150"/>
            <a:ext cx="7162501" cy="365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"/>
              <a:t>Evaluation</a:t>
            </a:r>
            <a:br>
              <a:rPr lang="tr"/>
            </a:br>
            <a:r>
              <a:rPr lang="tr" sz="2400"/>
              <a:t>Timeline</a:t>
            </a:r>
            <a:endParaRPr/>
          </a:p>
        </p:txBody>
      </p:sp>
      <p:sp>
        <p:nvSpPr>
          <p:cNvPr id="232" name="Google Shape;232;p3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11-Dec-25</a:t>
            </a:r>
            <a:endParaRPr/>
          </a:p>
        </p:txBody>
      </p:sp>
      <p:sp>
        <p:nvSpPr>
          <p:cNvPr id="233" name="Google Shape;233;p3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 Erol CENG318 @ IZTECH</a:t>
            </a:r>
            <a:endParaRPr/>
          </a:p>
        </p:txBody>
      </p:sp>
      <p:sp>
        <p:nvSpPr>
          <p:cNvPr id="234" name="Google Shape;234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10</a:t>
            </a:fld>
            <a:endParaRPr/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00" y="1577916"/>
            <a:ext cx="7496175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"/>
              <a:t>Evaluation</a:t>
            </a:r>
            <a:br>
              <a:rPr lang="tr"/>
            </a:br>
            <a:r>
              <a:rPr lang="tr" sz="2400"/>
              <a:t>Final Product</a:t>
            </a:r>
            <a:endParaRPr/>
          </a:p>
        </p:txBody>
      </p:sp>
      <p:sp>
        <p:nvSpPr>
          <p:cNvPr id="242" name="Google Shape;242;p35"/>
          <p:cNvSpPr txBox="1">
            <a:spLocks noGrp="1"/>
          </p:cNvSpPr>
          <p:nvPr>
            <p:ph type="body" idx="1"/>
          </p:nvPr>
        </p:nvSpPr>
        <p:spPr>
          <a:xfrm>
            <a:off x="628650" y="1228500"/>
            <a:ext cx="7886700" cy="3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700" b="1"/>
              <a:t>Computer Vision &amp; AI (Fully Functional)</a:t>
            </a:r>
            <a:endParaRPr sz="1700" b="1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tr" sz="1500"/>
              <a:t>Real-time chessboard detection and calibration</a:t>
            </a: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tr" sz="1500"/>
              <a:t>Accurate piece position recognition</a:t>
            </a: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tr" sz="1500"/>
              <a:t>Move detection and validation</a:t>
            </a: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tr" sz="1500"/>
              <a:t>AI-powered move suggestions via Stockfish engine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700" b="1"/>
              <a:t>Robotic Arm (Partially Complete)</a:t>
            </a:r>
            <a:endParaRPr sz="1700" b="1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tr" sz="1500"/>
              <a:t>Hardware assembled and Arduino communication established</a:t>
            </a: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tr" sz="1500"/>
              <a:t>Inverse kinematics calibration incomplete due to time and resource constraints</a:t>
            </a: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tr" sz="1500"/>
              <a:t>Autonomous piece movement not achieved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700" b="1"/>
              <a:t>Current System Capability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/>
              <a:t>The software successfully observes chess games, identifies piece positions, and suggests optimal moves. The robotic arm framework is in place but requires additional development for physical piece manipulation.</a:t>
            </a:r>
            <a:endParaRPr sz="1500"/>
          </a:p>
        </p:txBody>
      </p:sp>
      <p:sp>
        <p:nvSpPr>
          <p:cNvPr id="243" name="Google Shape;243;p3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11-Dec-25</a:t>
            </a:r>
            <a:endParaRPr/>
          </a:p>
        </p:txBody>
      </p:sp>
      <p:sp>
        <p:nvSpPr>
          <p:cNvPr id="244" name="Google Shape;244;p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 Erol CENG318 @ IZTECH</a:t>
            </a:r>
            <a:endParaRPr/>
          </a:p>
        </p:txBody>
      </p:sp>
      <p:sp>
        <p:nvSpPr>
          <p:cNvPr id="245" name="Google Shape;245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"/>
              <a:t>Business Opportunities</a:t>
            </a:r>
            <a:br>
              <a:rPr lang="tr"/>
            </a:br>
            <a:r>
              <a:rPr lang="tr" sz="2400"/>
              <a:t>Review</a:t>
            </a:r>
            <a:endParaRPr/>
          </a:p>
        </p:txBody>
      </p:sp>
      <p:sp>
        <p:nvSpPr>
          <p:cNvPr id="252" name="Google Shape;252;p3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1. Automated Magnetic Boards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Advantages: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Sleek design; pieces move "magically" without an arm.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Drawbacks: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High cost ($300+); closed system (hard to repair or reprogram); limited educational value.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2. Industrial Robotic Arms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Advantages: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Extremely high precision and speed.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Drawbacks: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Prohibitively expensive for home use; complex safety requirements; requires specialized middleware.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11-Dec-25</a:t>
            </a:r>
            <a:endParaRPr/>
          </a:p>
        </p:txBody>
      </p:sp>
      <p:sp>
        <p:nvSpPr>
          <p:cNvPr id="254" name="Google Shape;254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 Erol CENG318 @ IZTECH</a:t>
            </a:r>
            <a:endParaRPr/>
          </a:p>
        </p:txBody>
      </p:sp>
      <p:sp>
        <p:nvSpPr>
          <p:cNvPr id="255" name="Google Shape;255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"/>
              <a:t>Business Opportunities</a:t>
            </a:r>
            <a:br>
              <a:rPr lang="tr"/>
            </a:br>
            <a:r>
              <a:rPr lang="tr" sz="2400"/>
              <a:t>Comparison</a:t>
            </a:r>
            <a:endParaRPr/>
          </a:p>
        </p:txBody>
      </p:sp>
      <p:sp>
        <p:nvSpPr>
          <p:cNvPr id="262" name="Google Shape;262;p3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Our Approach: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tr" sz="11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tr" sz="1100" b="1">
                <a:latin typeface="Arial"/>
                <a:ea typeface="Arial"/>
                <a:cs typeface="Arial"/>
                <a:sym typeface="Arial"/>
              </a:rPr>
              <a:t>"Brain-on-PC"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system using a standard webcam and low-cost robotic arm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Why did you propose this project?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Rapid Prototyping Platform: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A lightweight Python framework that replaces complex middleware, allowing for faster modification and algorithm testing.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Cost Efficiency: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Offloading processing to a PC and using generic hardware drastically </a:t>
            </a:r>
            <a:r>
              <a:rPr lang="tr" sz="1100" b="1">
                <a:latin typeface="Arial"/>
                <a:ea typeface="Arial"/>
                <a:cs typeface="Arial"/>
                <a:sym typeface="Arial"/>
              </a:rPr>
              <a:t>reduces the price point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compared to embedded systems.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Open Customization: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The Python-centric architecture allows developers to easily modify the AI or vision algorithms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11-Dec-25</a:t>
            </a:r>
            <a:endParaRPr/>
          </a:p>
        </p:txBody>
      </p:sp>
      <p:sp>
        <p:nvSpPr>
          <p:cNvPr id="264" name="Google Shape;264;p3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 Erol CENG318 @ IZTECH</a:t>
            </a:r>
            <a:endParaRPr/>
          </a:p>
        </p:txBody>
      </p:sp>
      <p:sp>
        <p:nvSpPr>
          <p:cNvPr id="265" name="Google Shape;265;p3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"/>
              <a:t>Conclusion</a:t>
            </a:r>
            <a:br>
              <a:rPr lang="tr"/>
            </a:br>
            <a:endParaRPr/>
          </a:p>
        </p:txBody>
      </p:sp>
      <p:sp>
        <p:nvSpPr>
          <p:cNvPr id="272" name="Google Shape;272;p3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Successes: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Streamlined Python centric architecture and robust robotic vision.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Critical Failure: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A current spike during simultaneous servo actuation caused a thermal burnout of the base and shoulder servos.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tr" sz="1100" b="1"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lang="tr" sz="1100">
                <a:latin typeface="Arial"/>
                <a:ea typeface="Arial"/>
                <a:cs typeface="Arial"/>
                <a:sym typeface="Arial"/>
              </a:rPr>
              <a:t> The project scope was pivoted to prioritize perception optimization and safety protocols.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tr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177800" lvl="0" indent="-381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11-Dec-25</a:t>
            </a:r>
            <a:endParaRPr/>
          </a:p>
        </p:txBody>
      </p:sp>
      <p:sp>
        <p:nvSpPr>
          <p:cNvPr id="274" name="Google Shape;274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 Erol CENG318 @ IZTECH</a:t>
            </a:r>
            <a:endParaRPr/>
          </a:p>
        </p:txBody>
      </p:sp>
      <p:sp>
        <p:nvSpPr>
          <p:cNvPr id="275" name="Google Shape;275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C8B8A-7732-6226-D7EA-0BE3008E5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Demonstration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41450-D76C-9E7E-C26E-04D179FBD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7767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5ED00D1842B194E957A4F08F2AD508B" ma:contentTypeVersion="8" ma:contentTypeDescription="Yeni belge oluşturun." ma:contentTypeScope="" ma:versionID="8eadd093886d13ba952d923568bdc03c">
  <xsd:schema xmlns:xsd="http://www.w3.org/2001/XMLSchema" xmlns:xs="http://www.w3.org/2001/XMLSchema" xmlns:p="http://schemas.microsoft.com/office/2006/metadata/properties" xmlns:ns2="0bd2c02c-445e-4b08-a423-3451b06b1d41" targetNamespace="http://schemas.microsoft.com/office/2006/metadata/properties" ma:root="true" ma:fieldsID="2ce50906269822d6da992e84a364c7b0" ns2:_="">
    <xsd:import namespace="0bd2c02c-445e-4b08-a423-3451b06b1d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d2c02c-445e-4b08-a423-3451b06b1d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97CC9C-F2DB-4DFA-98E3-E7A673CBA5B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636E7FD-95CD-40DF-A189-1ED57DCBF0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33AFB4-0B76-4B9B-9C09-0CDE7D472B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d2c02c-445e-4b08-a423-3451b06b1d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14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Simple Light</vt:lpstr>
      <vt:lpstr>Office Theme</vt:lpstr>
      <vt:lpstr>CENG 483  Behavioral Robotics Final Presentation</vt:lpstr>
      <vt:lpstr>Outline</vt:lpstr>
      <vt:lpstr>Team</vt:lpstr>
      <vt:lpstr>Overview of the Project Introduction</vt:lpstr>
      <vt:lpstr>Overview of the Project Problem Definition</vt:lpstr>
      <vt:lpstr>Overview of the Project Challenges</vt:lpstr>
      <vt:lpstr>Overview of the Project Solutions</vt:lpstr>
      <vt:lpstr> Specifications</vt:lpstr>
      <vt:lpstr>Evaluation Gantt Chart</vt:lpstr>
      <vt:lpstr>Evaluation Timeline</vt:lpstr>
      <vt:lpstr>Evaluation Final Product</vt:lpstr>
      <vt:lpstr>Business Opportunities Review</vt:lpstr>
      <vt:lpstr>Business Opportunities Comparison</vt:lpstr>
      <vt:lpstr>Conclusion </vt:lpstr>
      <vt:lpstr>Demonstration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4</cp:revision>
  <dcterms:modified xsi:type="dcterms:W3CDTF">2026-06-25T12:20:03Z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0x010100D5ED00D1842B194E957A4F08F2AD508B</vt:lpwstr>
  </property>
</Properties>
</file>